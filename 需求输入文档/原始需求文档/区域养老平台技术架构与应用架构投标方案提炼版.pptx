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6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2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项目覆盖 1 个龙湖邻里中心点位、31 个社区居家养老服务点位，见《一期信息化建设需求》与《可研报告》：fileciteturn13file0、fileciteturn13file2
- 地图资产基于《可研报告》建设位置图（图1.1.4-1）整理：fileciteturn13file2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- 1 个区级中心、31 处社区点位、32033.32㎡、建设期 24 个月来自《可研报告》与《一期信息化建设需求》：fileciteturn13file2、fileciteturn13file0
- 项目愿景与三级服务体系来自《运营方案》：fileciteturn13file1
- PC/移动端/大屏等适用角色与渠道来自报价方案：fileciteturn13file3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健康管理、服务呼叫、安全监控、运营管理、社交互动五大场景来自《一期信息化建设需求》：fileciteturn13file0
- “一刻钟幸福养老生活圈”、三级服务体系、标准化与智慧化赋能来自《运营方案》：fileciteturn13file1
- 区级中心+31点位+居家延伸与平台建设规模来自《可研报告》：fileciteturn13file2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四层架构（感知层-平台层-应用层-展示层）与核心场景来自《一期信息化建设需求》：fileciteturn13file0
- 数据中台、智能算法引擎、管理驾驶舱/移动护理APP/家属小程序来自《运营方案》：fileciteturn12file11、fileciteturn12file13
- IoT 设备、云分析与健康报告推送参考《智慧康养产品及解决方案》：fileciteturn12file6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业务域来自《一期信息化建设需求》的健康管理、呼叫、安全监控、运营管理、社交互动模块：fileciteturn13file0
- 共享平台能力与多端应用来自《报价方案》的 PC 管理端、移动端、大屏功能清单：fileciteturn13file3
- AI 服务中心能力参考《运营方案》与 MicroCraft 能力补充文档：fileciteturn12file13、fileciteturn12file4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健康采集、云分析、报告推送、异常预警参考《智慧康养产品及解决方案》：fileciteturn12file6
- AI 行为预警、智能调度、资源共享、决策分析驾驶舱来自《运营方案》：fileciteturn12file5、fileciteturn12file13
- IoT 接入、第三方接口、数据中台能力来自《一期信息化建设需求》：fileciteturn13file0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表内“招标需求”来源于《一期信息化建设需求》健康管理、服务呼叫、安全监控、运营管理、社交互动等章节：fileciteturn13file0
- “响应方案 / 实现方式”结合《报价方案》PC 管理端、移动端与大屏功能清单整理：fileciteturn13file3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数据中台、AI 行为预警、资源调度、驾驶舱来自《运营方案》：fileciteturn12file5、fileciteturn12file11、fileciteturn12file13
- 培训、知识问答、陪聊助手、智慧运营等扩展能力来自《报价方案_MicroCraft 能力补充进去》：fileciteturn12file4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建设期 24 个月与平台建设规模来自《可研报告》：fileciteturn13file2
- 标准化流程、在线学习平台与培训方向来自《运营方案》：fileciteturn12file10、fileciteturn12file11
- PC/移动端/大屏等交付范围参考《报价方案》：fileciteturn13file3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结论综合依据《一期信息化建设需求》《运营方案》《可研报告》《报价方案》：fileciteturn13file0、fileciteturn13file1、fileciteturn13file2、fileciteturn13file3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256032" y="822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沈阳市和平区全域综合养老服务项目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0" y="10058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9E6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系统方案与功能响应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6455664"/>
            <a:ext cx="11731752" cy="0"/>
          </a:xfrm>
          <a:prstGeom prst="line">
            <a:avLst/>
          </a:prstGeom>
          <a:noFill/>
          <a:ln w="12700">
            <a:solidFill>
              <a:srgbClr val="D7DD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256032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A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 可编辑版：文本框 / 表格 / 形状均可二次修改 —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41248"/>
            <a:ext cx="11521440" cy="5285232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5212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区域养老平台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技术架构与应用架构投标方案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2808365"/>
            <a:ext cx="1828800" cy="721219"/>
          </a:xfrm>
          <a:prstGeom prst="roundRect">
            <a:avLst>
              <a:gd name="adj" fmla="val 26667"/>
            </a:avLst>
          </a:prstGeom>
          <a:solidFill>
            <a:srgbClr val="E8FAF7"/>
          </a:solidFill>
          <a:ln w="12700">
            <a:solidFill>
              <a:srgbClr val="16B3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22376" y="3111270"/>
            <a:ext cx="17007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1个区级中心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+ 31个社区节点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78608" y="2808365"/>
            <a:ext cx="1517904" cy="757795"/>
          </a:xfrm>
          <a:prstGeom prst="roundRect">
            <a:avLst>
              <a:gd name="adj" fmla="val 26667"/>
            </a:avLst>
          </a:prstGeom>
          <a:solidFill>
            <a:srgbClr val="FFF3E6"/>
          </a:solidFill>
          <a:ln w="12700">
            <a:solidFill>
              <a:srgbClr val="F39C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2642616" y="3079740"/>
            <a:ext cx="138988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+ 数据中台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7952" y="2808365"/>
            <a:ext cx="1417320" cy="757795"/>
          </a:xfrm>
          <a:prstGeom prst="roundRect">
            <a:avLst>
              <a:gd name="adj" fmla="val 26667"/>
            </a:avLst>
          </a:prstGeom>
          <a:solidFill>
            <a:srgbClr val="F2ECFF"/>
          </a:solidFill>
          <a:ln w="12700">
            <a:solidFill>
              <a:srgbClr val="9A7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251960" y="3121780"/>
            <a:ext cx="1289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全流程闭环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4049635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面向沈阳市和平区全域综合养老服务项目，一体化呈现项目背景、建设目标、技术架构、应用架构、系统响应、实施交付与运维培训。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143000"/>
            <a:ext cx="5394960" cy="4407408"/>
          </a:xfrm>
          <a:prstGeom prst="roundRect">
            <a:avLst>
              <a:gd name="adj" fmla="val 1660"/>
            </a:avLst>
          </a:prstGeom>
          <a:solidFill>
            <a:srgbClr val="F9FBFF"/>
          </a:solidFill>
          <a:ln w="12700">
            <a:solidFill>
              <a:srgbClr val="D6E2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0" descr="/mnt/data/user-O9XauVYnRCdLA4O5VcVltTcx__958044a4-0e98-4e05-9daf-67a72b33cc4c/042d600c14944f94b8e043bc5428ba3d/mnt/data/ppt_assets/map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930" y="1261872"/>
            <a:ext cx="3127461" cy="34930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0" y="4956048"/>
            <a:ext cx="4251960" cy="274320"/>
          </a:xfrm>
          <a:prstGeom prst="roundRect">
            <a:avLst>
              <a:gd name="adj" fmla="val 13333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629400" y="5010912"/>
            <a:ext cx="4160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1个区级服务核 + 31个社区节点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交付形式：全部页面采用原生文本框、表格、形状绘制，便于 PowerPoint / WPS 二次编辑。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项目背景与适用对象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96112"/>
            <a:ext cx="5330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本平台以“一核多点、覆盖居家、数智协同”为目标，服务和平区全域综合养老服务项目建设与运营。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项目概况 / 适用对象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84048" y="1143000"/>
            <a:ext cx="73152" cy="786384"/>
          </a:xfrm>
          <a:prstGeom prst="rect">
            <a:avLst/>
          </a:prstGeom>
          <a:solidFill>
            <a:srgbClr val="16B3A5"/>
          </a:solidFill>
          <a:ln w="12700">
            <a:solidFill>
              <a:srgbClr val="16B3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48640" y="130759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3677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区级养老服务核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143000"/>
            <a:ext cx="16002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084832" y="1143000"/>
            <a:ext cx="73152" cy="78638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130759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 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49424" y="1636776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社区养老服务点位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85616" y="1143000"/>
            <a:ext cx="162763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785616" y="1143000"/>
            <a:ext cx="73152" cy="786384"/>
          </a:xfrm>
          <a:prstGeom prst="rect">
            <a:avLst/>
          </a:prstGeom>
          <a:solidFill>
            <a:srgbClr val="9A70FF"/>
          </a:solidFill>
          <a:ln w="12700">
            <a:solidFill>
              <a:srgbClr val="9A7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950208" y="130759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32033.32 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0208" y="1636776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一期改造与平台覆盖面积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13832" y="1143000"/>
            <a:ext cx="16916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513832" y="1143000"/>
            <a:ext cx="73152" cy="786384"/>
          </a:xfrm>
          <a:prstGeom prst="rect">
            <a:avLst/>
          </a:prstGeom>
          <a:solidFill>
            <a:srgbClr val="6BBC6B"/>
          </a:solidFill>
          <a:ln w="12700">
            <a:solidFill>
              <a:srgbClr val="6BBC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678424" y="13075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个月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78424" y="163677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建设期（2025.06-2027.05）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33488" y="1133856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461504" y="12435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61504" y="151790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92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以“一刻钟幸福养老生活圈”为愿景</a:t>
            </a:r>
            <a:endParaRPr lang="en-US" sz="92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92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建设“中心统筹、社区衔接、覆盖居家”的三级体系</a:t>
            </a:r>
            <a:endParaRPr lang="en-US" sz="92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92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以数字化和</a:t>
            </a:r>
            <a:r>
              <a:rPr lang="en-US" sz="92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AI 提升服务可及性与运营效率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491472" y="1133856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19488" y="12435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适用对象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19488" y="151790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长者</a:t>
            </a:r>
            <a:r>
              <a:rPr lang="en-US" sz="7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/ </a:t>
            </a:r>
            <a:r>
              <a:rPr lang="en-US" sz="7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家属</a:t>
            </a:r>
            <a:endParaRPr lang="en-US" sz="7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护理员</a:t>
            </a:r>
            <a:r>
              <a:rPr lang="en-US" sz="7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/ </a:t>
            </a:r>
            <a:r>
              <a:rPr lang="en-US" sz="7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医护人员</a:t>
            </a:r>
            <a:r>
              <a:rPr lang="en-US" sz="7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/ </a:t>
            </a:r>
            <a:r>
              <a:rPr lang="en-US" sz="7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康复师</a:t>
            </a:r>
            <a:endParaRPr lang="en-US" sz="7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7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社区站点负责人</a:t>
            </a:r>
            <a:r>
              <a:rPr lang="en-US" sz="7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/ 机构管理者</a:t>
            </a:r>
            <a:endParaRPr lang="en-US" sz="7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区级运营管理与合作服务商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4048" y="2148840"/>
            <a:ext cx="438912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30352" y="2304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建设范围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2615184"/>
            <a:ext cx="395020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业务范围：</a:t>
            </a: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养老机构、日间照料、长者食堂、老年大学、中医理疗、康复训练、线上中医、居家上门服务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平台目标：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健康监测、呼叫响应、安全预警、运营管理、家属互动、数据驾驶舱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渠道形态：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 管理端、移动护理 App、家属/长者小程序、运营大屏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407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建设挑战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4700016"/>
            <a:ext cx="395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点位分散，需统一指挥与标准输出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业务形态多，需中台化沉淀共享能力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健康、安全、服务过程需实时感知与闭环处置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标书材料需同时满足“可读、可讲、可改”三重要求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56048" y="2148840"/>
            <a:ext cx="3675888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102352" y="23042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建设地图</a:t>
            </a:r>
            <a:endParaRPr lang="en-US" sz="1300" dirty="0"/>
          </a:p>
        </p:txBody>
      </p:sp>
      <p:pic>
        <p:nvPicPr>
          <p:cNvPr id="35" name="Image 0" descr="/mnt/data/user-O9XauVYnRCdLA4O5VcVltTcx__958044a4-0e98-4e05-9daf-67a72b33cc4c/042d600c14944f94b8e043bc5428ba3d/mnt/data/ppt_assets/map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399" y="2578608"/>
            <a:ext cx="2415186" cy="26974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5413248" y="5303520"/>
            <a:ext cx="2761488" cy="237744"/>
          </a:xfrm>
          <a:prstGeom prst="roundRect">
            <a:avLst>
              <a:gd name="adj" fmla="val 11538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4"/>
          <p:cNvSpPr/>
          <p:nvPr/>
        </p:nvSpPr>
        <p:spPr>
          <a:xfrm>
            <a:off x="5468112" y="534924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区级服务核 + 社区站点 + 居家延伸</a:t>
            </a:r>
            <a:endParaRPr lang="en-US" sz="870" dirty="0"/>
          </a:p>
        </p:txBody>
      </p:sp>
      <p:sp>
        <p:nvSpPr>
          <p:cNvPr id="38" name="Shape 35"/>
          <p:cNvSpPr/>
          <p:nvPr/>
        </p:nvSpPr>
        <p:spPr>
          <a:xfrm>
            <a:off x="8796528" y="2148840"/>
            <a:ext cx="2980944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8924544" y="22585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角色分层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924544" y="2532888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buSzPct val="100000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区级：资源统筹、指挥调度、指标监管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站点：服务执行、设备接入、事件闭环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家庭：服务触达、评价反馈、陪伴互动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796528" y="3310128"/>
            <a:ext cx="2980944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8924544" y="3419856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建设抓手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924544" y="3694176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数据中台统一档案、工单、消息、结算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中枢支撑识别、预测、调度、问答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多端应用打通管理端、服务端、家属端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796528" y="4471416"/>
            <a:ext cx="2980944" cy="1289304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8924544" y="458114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投标材料设计要求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924544" y="4855464"/>
            <a:ext cx="27249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页面全部采用原生 PPT 文本框 / 表格 / 形状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架构图与响应表均可直接复制、拆改、替换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内容表达兼顾技术标附件与现场汇报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来源：一期信息化建设需求、运营方案、可研报告、功能报价方案。</a:t>
            </a:r>
            <a:endParaRPr lang="en-US" sz="8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建设目标与总体思路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目标不是堆叠系统，而是以统一平台承接健康、呼叫、安全、运营、家属互动五大核心场景。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 / 建设原则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7" y="1155717"/>
            <a:ext cx="3567158" cy="384048"/>
          </a:xfrm>
          <a:prstGeom prst="roundRect">
            <a:avLst>
              <a:gd name="adj" fmla="val 28571"/>
            </a:avLst>
          </a:prstGeom>
          <a:solidFill>
            <a:srgbClr val="E8FAF7"/>
          </a:solidFill>
          <a:ln w="12700">
            <a:solidFill>
              <a:srgbClr val="16B3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3973" y="1204276"/>
            <a:ext cx="3567157" cy="2778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总体思路：一朵云 + 一个中台 + 一个AI中枢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3503" y="1155717"/>
            <a:ext cx="3300882" cy="384048"/>
          </a:xfrm>
          <a:prstGeom prst="roundRect">
            <a:avLst>
              <a:gd name="adj" fmla="val 28571"/>
            </a:avLst>
          </a:prstGeom>
          <a:solidFill>
            <a:srgbClr val="FFF3E6"/>
          </a:solidFill>
          <a:ln w="12700">
            <a:solidFill>
              <a:srgbClr val="F39C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308602" y="1193766"/>
            <a:ext cx="3060827" cy="2778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多端协同：PC / App / 小程序 / 驾驶舱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56683" y="1155717"/>
            <a:ext cx="3792605" cy="384048"/>
          </a:xfrm>
          <a:prstGeom prst="roundRect">
            <a:avLst>
              <a:gd name="adj" fmla="val 28571"/>
            </a:avLst>
          </a:prstGeom>
          <a:solidFill>
            <a:srgbClr val="F2ECFF"/>
          </a:solidFill>
          <a:ln w="12700">
            <a:solidFill>
              <a:srgbClr val="9A7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24843" y="1225296"/>
            <a:ext cx="3415809" cy="25697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全流程闭环：感知 → 分析 → 调度 → 处置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" y="1814505"/>
            <a:ext cx="2761488" cy="158516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2064" y="1924233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 01｜健康管理实时化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" y="2282633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穿戴设备与检测终端持续采集心率、血压、血糖、睡眠等数据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自动生成健康报告与预警信息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医护和护理人员可在电脑或手机端查看趋势与异常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55264" y="1814505"/>
            <a:ext cx="2761488" cy="158516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383280" y="1924233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 02｜呼叫响应闭环化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282633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房间与公共区域设置一键呼叫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自动定位、展示长者信息并联动护理站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支持手持终端快速响应与记录处理过程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814505"/>
            <a:ext cx="2761488" cy="158516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54496" y="1924233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 03｜安全监护主动化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54496" y="2282633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AI 视频识别跌倒、异常聚集、徘徊、闯入等风险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门禁、烟感、燃气、水电传感器联动告警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从“事后查看”升级到“实时识别+主动干预</a:t>
            </a: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97696" y="1814505"/>
            <a:ext cx="2761488" cy="1585168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125712" y="1924233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 04｜运营管理数据化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25712" y="2282633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人、财、物、餐、床位、设备、活动统一纳入平台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建立区域驾驶舱与站点看板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</a:t>
            </a: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KPI 监测、成本分析、满意度与资源调度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3589907"/>
            <a:ext cx="2798064" cy="1790757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12064" y="376795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建设原则｜统一规划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" y="4147380"/>
            <a:ext cx="2542032" cy="96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统一平台、统一身份、统一消息、统一数据口径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避免 32 个点位烟囱式建设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73552" y="3589907"/>
            <a:ext cx="2798064" cy="1790757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401568" y="376795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建设原则｜业务牵引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01568" y="4147380"/>
            <a:ext cx="2542032" cy="96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以健康、呼叫、安全、运营、互动场景反推技术设计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把“能运营、能监管、能扩展”放在系统最前面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63056" y="3589907"/>
            <a:ext cx="2798064" cy="1790757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291072" y="376795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建设原则｜数据贯通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91072" y="4147380"/>
            <a:ext cx="2542032" cy="96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打通照护、餐饮、安防、医疗、工单、结算、物资数据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沉淀长者全景电子档案与经营指标中心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52560" y="3589907"/>
            <a:ext cx="2706624" cy="1790757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180576" y="3767956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建设原则｜安全可控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80576" y="4147380"/>
            <a:ext cx="2450592" cy="96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最小权限、日志审计、双重备份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支持等保、隐私合规、证据留痕与接口监管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5570898"/>
            <a:ext cx="11375136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530352" y="571720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结论：平台定位应从“单点系统采购”升级为“区域级数智养老运营底座”，以龙湖邻里中心作为区级服务核，对 31 个社区节点和居家端进行统一接入、统一调度、统一监管。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内容依据：一期信息化目标、运营方案顶层思路、可研数字化方案。</a:t>
            </a:r>
            <a:endParaRPr lang="en-US" sz="8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1">
            <a:extLst>
              <a:ext uri="{FF2B5EF4-FFF2-40B4-BE49-F238E27FC236}">
                <a16:creationId xmlns:a16="http://schemas.microsoft.com/office/drawing/2014/main" id="{58E0546E-A961-43BD-7956-97F6A3CDC603}"/>
              </a:ext>
            </a:extLst>
          </p:cNvPr>
          <p:cNvSpPr/>
          <p:nvPr/>
        </p:nvSpPr>
        <p:spPr>
          <a:xfrm>
            <a:off x="10181419" y="2200028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113" name="Text 31">
            <a:extLst>
              <a:ext uri="{FF2B5EF4-FFF2-40B4-BE49-F238E27FC236}">
                <a16:creationId xmlns:a16="http://schemas.microsoft.com/office/drawing/2014/main" id="{148B07C6-42F1-F849-21A5-65C2B70275D5}"/>
              </a:ext>
            </a:extLst>
          </p:cNvPr>
          <p:cNvSpPr/>
          <p:nvPr/>
        </p:nvSpPr>
        <p:spPr>
          <a:xfrm>
            <a:off x="8993434" y="2190849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112" name="Text 31">
            <a:extLst>
              <a:ext uri="{FF2B5EF4-FFF2-40B4-BE49-F238E27FC236}">
                <a16:creationId xmlns:a16="http://schemas.microsoft.com/office/drawing/2014/main" id="{2A8B64F1-2EF9-0FA9-111D-D5C2FAA2D00B}"/>
              </a:ext>
            </a:extLst>
          </p:cNvPr>
          <p:cNvSpPr/>
          <p:nvPr/>
        </p:nvSpPr>
        <p:spPr>
          <a:xfrm>
            <a:off x="7783417" y="2192687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109" name="Text 31">
            <a:extLst>
              <a:ext uri="{FF2B5EF4-FFF2-40B4-BE49-F238E27FC236}">
                <a16:creationId xmlns:a16="http://schemas.microsoft.com/office/drawing/2014/main" id="{47345D80-78EE-7398-D5AC-C4ADE62CA462}"/>
              </a:ext>
            </a:extLst>
          </p:cNvPr>
          <p:cNvSpPr/>
          <p:nvPr/>
        </p:nvSpPr>
        <p:spPr>
          <a:xfrm>
            <a:off x="4103234" y="2203704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技术架构图（含 AI 中枢）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5001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建议采用“四层架构 + 数据中台 + AI 中枢”方式落地，全部为可编辑形状，可直接增删模块。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编辑友好：全部模块均为原生形状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297500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7" name="Text 5"/>
          <p:cNvSpPr/>
          <p:nvPr/>
        </p:nvSpPr>
        <p:spPr>
          <a:xfrm>
            <a:off x="539496" y="133407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00200" y="1234440"/>
            <a:ext cx="1325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Text 7"/>
          <p:cNvSpPr/>
          <p:nvPr/>
        </p:nvSpPr>
        <p:spPr>
          <a:xfrm>
            <a:off x="1636776" y="1261872"/>
            <a:ext cx="12527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 管理端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1234440"/>
            <a:ext cx="128016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1" name="Text 9"/>
          <p:cNvSpPr/>
          <p:nvPr/>
        </p:nvSpPr>
        <p:spPr>
          <a:xfrm>
            <a:off x="3099816" y="1261872"/>
            <a:ext cx="12070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护理员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1325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3" name="Text 11"/>
          <p:cNvSpPr/>
          <p:nvPr/>
        </p:nvSpPr>
        <p:spPr>
          <a:xfrm>
            <a:off x="4517136" y="1261872"/>
            <a:ext cx="12527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医护工作台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234440"/>
            <a:ext cx="17830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5" name="Text 13"/>
          <p:cNvSpPr/>
          <p:nvPr/>
        </p:nvSpPr>
        <p:spPr>
          <a:xfrm>
            <a:off x="5980176" y="1261872"/>
            <a:ext cx="17099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家属 / 长者小程序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1234440"/>
            <a:ext cx="141732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7" name="Text 15"/>
          <p:cNvSpPr/>
          <p:nvPr/>
        </p:nvSpPr>
        <p:spPr>
          <a:xfrm>
            <a:off x="7900416" y="1261872"/>
            <a:ext cx="134416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区域驾驶舱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1755648"/>
            <a:ext cx="960120" cy="719445"/>
          </a:xfrm>
          <a:prstGeom prst="roundRect">
            <a:avLst>
              <a:gd name="adj" fmla="val 11538"/>
            </a:avLst>
          </a:prstGeom>
          <a:solidFill>
            <a:srgbClr val="16B3A5"/>
          </a:solidFill>
          <a:ln w="12700">
            <a:solidFill>
              <a:srgbClr val="16B3A5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19" name="Text 17"/>
          <p:cNvSpPr/>
          <p:nvPr/>
        </p:nvSpPr>
        <p:spPr>
          <a:xfrm>
            <a:off x="539496" y="2031556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00200" y="1755648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1" name="Text 19"/>
          <p:cNvSpPr/>
          <p:nvPr/>
        </p:nvSpPr>
        <p:spPr>
          <a:xfrm>
            <a:off x="1734056" y="1803241"/>
            <a:ext cx="1344168" cy="2276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长者档案 / 入住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1755648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3" name="Text 21"/>
          <p:cNvSpPr/>
          <p:nvPr/>
        </p:nvSpPr>
        <p:spPr>
          <a:xfrm>
            <a:off x="3429000" y="1792224"/>
            <a:ext cx="1554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健康管理 / 评估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1755648"/>
            <a:ext cx="1691640" cy="310896"/>
          </a:xfrm>
          <a:prstGeom prst="roundRect">
            <a:avLst>
              <a:gd name="adj" fmla="val 11765"/>
            </a:avLst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5" name="Text 23"/>
          <p:cNvSpPr/>
          <p:nvPr/>
        </p:nvSpPr>
        <p:spPr>
          <a:xfrm>
            <a:off x="5212080" y="1792224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呼叫中心 / 事件处置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1755648"/>
            <a:ext cx="1554480" cy="310896"/>
          </a:xfrm>
          <a:prstGeom prst="roundRect">
            <a:avLst>
              <a:gd name="adj" fmla="val 11765"/>
            </a:avLst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7" name="Text 25"/>
          <p:cNvSpPr/>
          <p:nvPr/>
        </p:nvSpPr>
        <p:spPr>
          <a:xfrm>
            <a:off x="704088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安全监护 / 门禁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0" y="1755648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29" name="Text 27"/>
          <p:cNvSpPr/>
          <p:nvPr/>
        </p:nvSpPr>
        <p:spPr>
          <a:xfrm>
            <a:off x="8732520" y="1792224"/>
            <a:ext cx="13258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社区服务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0" y="1755648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31" name="Text 29"/>
          <p:cNvSpPr/>
          <p:nvPr/>
        </p:nvSpPr>
        <p:spPr>
          <a:xfrm>
            <a:off x="10287000" y="1792224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25652" y="2203704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37" name="Text 35"/>
          <p:cNvSpPr/>
          <p:nvPr/>
        </p:nvSpPr>
        <p:spPr>
          <a:xfrm>
            <a:off x="4134411" y="2203704"/>
            <a:ext cx="10241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餐饮</a:t>
            </a:r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/</a:t>
            </a:r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食谱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99248" y="2203704"/>
            <a:ext cx="10241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财务/</a:t>
            </a:r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结算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2920" y="2769684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9A70FF"/>
          </a:solidFill>
          <a:ln w="12700">
            <a:solidFill>
              <a:srgbClr val="9A70FF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49" name="Text 47"/>
          <p:cNvSpPr/>
          <p:nvPr/>
        </p:nvSpPr>
        <p:spPr>
          <a:xfrm>
            <a:off x="539496" y="2806260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AI中枢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600200" y="2706624"/>
            <a:ext cx="166420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51" name="Text 49"/>
          <p:cNvSpPr/>
          <p:nvPr/>
        </p:nvSpPr>
        <p:spPr>
          <a:xfrm>
            <a:off x="1636776" y="2734056"/>
            <a:ext cx="1591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健康风险预测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474720" y="2706624"/>
            <a:ext cx="166420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53" name="Text 51"/>
          <p:cNvSpPr/>
          <p:nvPr/>
        </p:nvSpPr>
        <p:spPr>
          <a:xfrm>
            <a:off x="3511296" y="2734056"/>
            <a:ext cx="1591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视频行为识别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349240" y="2706624"/>
            <a:ext cx="166420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55" name="Text 53"/>
          <p:cNvSpPr/>
          <p:nvPr/>
        </p:nvSpPr>
        <p:spPr>
          <a:xfrm>
            <a:off x="5385816" y="2734056"/>
            <a:ext cx="1591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智能调度派单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23760" y="2706624"/>
            <a:ext cx="166420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57" name="Text 55"/>
          <p:cNvSpPr/>
          <p:nvPr/>
        </p:nvSpPr>
        <p:spPr>
          <a:xfrm>
            <a:off x="7260336" y="2734056"/>
            <a:ext cx="1591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问答/陪伴助手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098280" y="2706624"/>
            <a:ext cx="166420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59" name="Text 57"/>
          <p:cNvSpPr/>
          <p:nvPr/>
        </p:nvSpPr>
        <p:spPr>
          <a:xfrm>
            <a:off x="9134856" y="2734056"/>
            <a:ext cx="15910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经营分析洞察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2920" y="3373188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61" name="Text 59"/>
          <p:cNvSpPr/>
          <p:nvPr/>
        </p:nvSpPr>
        <p:spPr>
          <a:xfrm>
            <a:off x="539496" y="3409764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数据中台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600200" y="3310128"/>
            <a:ext cx="138988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3" name="Text 61"/>
          <p:cNvSpPr/>
          <p:nvPr/>
        </p:nvSpPr>
        <p:spPr>
          <a:xfrm>
            <a:off x="1636776" y="3337560"/>
            <a:ext cx="13167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长者主数据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172968" y="3310128"/>
            <a:ext cx="138988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5" name="Text 63"/>
          <p:cNvSpPr/>
          <p:nvPr/>
        </p:nvSpPr>
        <p:spPr>
          <a:xfrm>
            <a:off x="3209544" y="3337560"/>
            <a:ext cx="13167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电子档案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45736" y="3310128"/>
            <a:ext cx="138988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7" name="Text 65"/>
          <p:cNvSpPr/>
          <p:nvPr/>
        </p:nvSpPr>
        <p:spPr>
          <a:xfrm>
            <a:off x="4782312" y="3337560"/>
            <a:ext cx="13167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工单流程引擎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18504" y="3310128"/>
            <a:ext cx="138988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69" name="Text 67"/>
          <p:cNvSpPr/>
          <p:nvPr/>
        </p:nvSpPr>
        <p:spPr>
          <a:xfrm>
            <a:off x="6355080" y="3337560"/>
            <a:ext cx="13167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消息/预警中心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891272" y="3310128"/>
            <a:ext cx="138988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1" name="Text 69"/>
          <p:cNvSpPr/>
          <p:nvPr/>
        </p:nvSpPr>
        <p:spPr>
          <a:xfrm>
            <a:off x="7927848" y="3337560"/>
            <a:ext cx="13167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指标中心 / BI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464040" y="3310128"/>
            <a:ext cx="1389888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3" name="Text 71"/>
          <p:cNvSpPr/>
          <p:nvPr/>
        </p:nvSpPr>
        <p:spPr>
          <a:xfrm>
            <a:off x="9500616" y="3337560"/>
            <a:ext cx="13167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开放接口平台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02920" y="3976692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6BBC6B"/>
          </a:solidFill>
          <a:ln w="12700">
            <a:solidFill>
              <a:srgbClr val="6BBC6B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75" name="Text 73"/>
          <p:cNvSpPr/>
          <p:nvPr/>
        </p:nvSpPr>
        <p:spPr>
          <a:xfrm>
            <a:off x="539496" y="4013268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平台层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600200" y="3913632"/>
            <a:ext cx="1600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7" name="Text 75"/>
          <p:cNvSpPr/>
          <p:nvPr/>
        </p:nvSpPr>
        <p:spPr>
          <a:xfrm>
            <a:off x="1636776" y="3941064"/>
            <a:ext cx="15270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统一身份 / 权限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429000" y="3913632"/>
            <a:ext cx="1600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9" name="Text 77"/>
          <p:cNvSpPr/>
          <p:nvPr/>
        </p:nvSpPr>
        <p:spPr>
          <a:xfrm>
            <a:off x="3465576" y="3941064"/>
            <a:ext cx="15270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IoT 接入平台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257800" y="3913632"/>
            <a:ext cx="1600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1" name="Text 79"/>
          <p:cNvSpPr/>
          <p:nvPr/>
        </p:nvSpPr>
        <p:spPr>
          <a:xfrm>
            <a:off x="5294376" y="3941064"/>
            <a:ext cx="15270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结算系统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086600" y="3913632"/>
            <a:ext cx="1600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3" name="Text 81"/>
          <p:cNvSpPr/>
          <p:nvPr/>
        </p:nvSpPr>
        <p:spPr>
          <a:xfrm>
            <a:off x="7123176" y="3941064"/>
            <a:ext cx="15270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第三方接口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915400" y="3913632"/>
            <a:ext cx="1600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5" name="Text 83"/>
          <p:cNvSpPr/>
          <p:nvPr/>
        </p:nvSpPr>
        <p:spPr>
          <a:xfrm>
            <a:off x="8951976" y="3941064"/>
            <a:ext cx="15270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日志审计 / 备份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02920" y="4580196"/>
            <a:ext cx="960120" cy="237744"/>
          </a:xfrm>
          <a:prstGeom prst="roundRect">
            <a:avLst>
              <a:gd name="adj" fmla="val 11538"/>
            </a:avLst>
          </a:prstGeom>
          <a:solidFill>
            <a:srgbClr val="224E86"/>
          </a:solidFill>
          <a:ln w="12700">
            <a:solidFill>
              <a:srgbClr val="224E86"/>
            </a:solidFill>
            <a:prstDash val="solid"/>
          </a:ln>
        </p:spPr>
        <p:txBody>
          <a:bodyPr/>
          <a:lstStyle/>
          <a:p>
            <a:endParaRPr lang="zh-CN" altLang="en-US" sz="4400"/>
          </a:p>
        </p:txBody>
      </p:sp>
      <p:sp>
        <p:nvSpPr>
          <p:cNvPr id="87" name="Text 85"/>
          <p:cNvSpPr/>
          <p:nvPr/>
        </p:nvSpPr>
        <p:spPr>
          <a:xfrm>
            <a:off x="539496" y="461677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感知层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572768" y="4517136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9" name="Text 87"/>
          <p:cNvSpPr/>
          <p:nvPr/>
        </p:nvSpPr>
        <p:spPr>
          <a:xfrm>
            <a:off x="1609344" y="454456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SOS手环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880360" y="4517136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1" name="Text 89"/>
          <p:cNvSpPr/>
          <p:nvPr/>
        </p:nvSpPr>
        <p:spPr>
          <a:xfrm>
            <a:off x="2916936" y="454456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呼叫按钮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4187952" y="4517136"/>
            <a:ext cx="11430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3" name="Text 91"/>
          <p:cNvSpPr/>
          <p:nvPr/>
        </p:nvSpPr>
        <p:spPr>
          <a:xfrm>
            <a:off x="4224528" y="454456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智能床垫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532120" y="4517136"/>
            <a:ext cx="1325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5" name="Text 93"/>
          <p:cNvSpPr/>
          <p:nvPr/>
        </p:nvSpPr>
        <p:spPr>
          <a:xfrm>
            <a:off x="5568696" y="4544568"/>
            <a:ext cx="12527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血压/血糖/血氧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986016" y="4517136"/>
            <a:ext cx="1325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7" name="Text 95"/>
          <p:cNvSpPr/>
          <p:nvPr/>
        </p:nvSpPr>
        <p:spPr>
          <a:xfrm>
            <a:off x="7022592" y="4544568"/>
            <a:ext cx="12527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烟感/燃气/水浸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8439912" y="4517136"/>
            <a:ext cx="118872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9" name="Text 97"/>
          <p:cNvSpPr/>
          <p:nvPr/>
        </p:nvSpPr>
        <p:spPr>
          <a:xfrm>
            <a:off x="8476488" y="4544568"/>
            <a:ext cx="111556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AI摄像头/NVR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802368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101" name="Text 99"/>
          <p:cNvSpPr/>
          <p:nvPr/>
        </p:nvSpPr>
        <p:spPr>
          <a:xfrm>
            <a:off x="9838944" y="4544568"/>
            <a:ext cx="11612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24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门禁/电子围栏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502920" y="5138928"/>
            <a:ext cx="11082528" cy="603504"/>
          </a:xfrm>
          <a:prstGeom prst="roundRect">
            <a:avLst>
              <a:gd name="adj" fmla="val 6061"/>
            </a:avLst>
          </a:prstGeom>
          <a:solidFill>
            <a:srgbClr val="F0F5FC"/>
          </a:solidFill>
          <a:ln w="12700">
            <a:solidFill>
              <a:srgbClr val="D5DE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Text 101"/>
          <p:cNvSpPr/>
          <p:nvPr/>
        </p:nvSpPr>
        <p:spPr>
          <a:xfrm>
            <a:off x="713232" y="5358384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核心链路：设备采集 → 中台汇聚 → AI分析 → 工单与预警 → 多端响应 → 驾驶舱监管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Text 103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该页全部使用原生文本框与形状绘制，可直接修改模块名称、增删层级、替换颜色。</a:t>
            </a:r>
            <a:endParaRPr lang="en-US" sz="800" dirty="0"/>
          </a:p>
        </p:txBody>
      </p:sp>
      <p:sp>
        <p:nvSpPr>
          <p:cNvPr id="10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07" name="Text 19">
            <a:extLst>
              <a:ext uri="{FF2B5EF4-FFF2-40B4-BE49-F238E27FC236}">
                <a16:creationId xmlns:a16="http://schemas.microsoft.com/office/drawing/2014/main" id="{A3AABCEB-C0AB-A8B2-F0C8-CBBD6286B1B3}"/>
              </a:ext>
            </a:extLst>
          </p:cNvPr>
          <p:cNvSpPr/>
          <p:nvPr/>
        </p:nvSpPr>
        <p:spPr>
          <a:xfrm>
            <a:off x="1810322" y="2221044"/>
            <a:ext cx="6720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zh-CN" alt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照护计划</a:t>
            </a:r>
            <a:endParaRPr lang="en-US" sz="1200" dirty="0"/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DCD0B5AC-C9AE-263F-6B1F-BCB59E74F670}"/>
              </a:ext>
            </a:extLst>
          </p:cNvPr>
          <p:cNvSpPr/>
          <p:nvPr/>
        </p:nvSpPr>
        <p:spPr>
          <a:xfrm>
            <a:off x="2868723" y="2201866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35" name="Text 33"/>
          <p:cNvSpPr/>
          <p:nvPr/>
        </p:nvSpPr>
        <p:spPr>
          <a:xfrm>
            <a:off x="2946136" y="2203704"/>
            <a:ext cx="102412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体征/</a:t>
            </a:r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巡房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110" name="Text 31">
            <a:extLst>
              <a:ext uri="{FF2B5EF4-FFF2-40B4-BE49-F238E27FC236}">
                <a16:creationId xmlns:a16="http://schemas.microsoft.com/office/drawing/2014/main" id="{E70E341A-DE03-B631-01B3-7C48269F146A}"/>
              </a:ext>
            </a:extLst>
          </p:cNvPr>
          <p:cNvSpPr/>
          <p:nvPr/>
        </p:nvSpPr>
        <p:spPr>
          <a:xfrm>
            <a:off x="5335285" y="2201866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39" name="Text 37"/>
          <p:cNvSpPr/>
          <p:nvPr/>
        </p:nvSpPr>
        <p:spPr>
          <a:xfrm>
            <a:off x="5366759" y="2203704"/>
            <a:ext cx="10241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活动/</a:t>
            </a:r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课程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8DC0FA44-B112-B05C-D8AC-96E320541799}"/>
              </a:ext>
            </a:extLst>
          </p:cNvPr>
          <p:cNvSpPr/>
          <p:nvPr/>
        </p:nvSpPr>
        <p:spPr>
          <a:xfrm>
            <a:off x="6567336" y="2200028"/>
            <a:ext cx="1024128" cy="273372"/>
          </a:xfrm>
          <a:prstGeom prst="rect">
            <a:avLst/>
          </a:prstGeom>
          <a:solidFill>
            <a:srgbClr val="7ED7CF"/>
          </a:solidFill>
          <a:ln w="12700">
            <a:solidFill>
              <a:srgbClr val="7ED7CF"/>
            </a:solidFill>
            <a:prstDash val="solid"/>
          </a:ln>
        </p:spPr>
        <p:txBody>
          <a:bodyPr/>
          <a:lstStyle/>
          <a:p>
            <a:endParaRPr lang="en-US" sz="1200" b="1" dirty="0"/>
          </a:p>
        </p:txBody>
      </p:sp>
      <p:sp>
        <p:nvSpPr>
          <p:cNvPr id="41" name="Text 39"/>
          <p:cNvSpPr/>
          <p:nvPr/>
        </p:nvSpPr>
        <p:spPr>
          <a:xfrm>
            <a:off x="6544021" y="2203704"/>
            <a:ext cx="10241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采购/</a:t>
            </a:r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库存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942611" y="2203704"/>
            <a:ext cx="106984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设备管理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130889" y="2203704"/>
            <a:ext cx="10241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人事/</a:t>
            </a:r>
            <a:r>
              <a:rPr lang="en-US" sz="1200" b="1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</a:rPr>
              <a:t>排班</a:t>
            </a:r>
            <a:endParaRPr lang="en-US" sz="1200" b="1" dirty="0">
              <a:solidFill>
                <a:srgbClr val="1D2A3A"/>
              </a:solidFill>
              <a:latin typeface="Noto Sans CJK SC" pitchFamily="34" charset="0"/>
              <a:ea typeface="Noto Sans CJK SC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应用架构图（按角色与场景组织）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将平台拆分为五大业务域与两类共享能力，便于技术标、实施清单和后续版本规划对齐。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角色端与业务域一一对应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8912" y="1163072"/>
            <a:ext cx="1325880" cy="558096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1336282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长者 / 家属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56232" y="1163072"/>
            <a:ext cx="1325880" cy="558098"/>
          </a:xfrm>
          <a:prstGeom prst="roundRect">
            <a:avLst>
              <a:gd name="adj" fmla="val 28571"/>
            </a:avLst>
          </a:prstGeom>
          <a:solidFill>
            <a:srgbClr val="E8FAF7"/>
          </a:solidFill>
          <a:ln w="12700">
            <a:solidFill>
              <a:srgbClr val="16B3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920240" y="1336282"/>
            <a:ext cx="11978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护理员 / 医护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3552" y="1163071"/>
            <a:ext cx="1353312" cy="558097"/>
          </a:xfrm>
          <a:prstGeom prst="roundRect">
            <a:avLst>
              <a:gd name="adj" fmla="val 28571"/>
            </a:avLst>
          </a:prstGeom>
          <a:solidFill>
            <a:srgbClr val="FFF3E6"/>
          </a:solidFill>
          <a:ln w="12700">
            <a:solidFill>
              <a:srgbClr val="F39C3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336282"/>
            <a:ext cx="122529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社区站点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18304" y="1163072"/>
            <a:ext cx="1572768" cy="558096"/>
          </a:xfrm>
          <a:prstGeom prst="roundRect">
            <a:avLst>
              <a:gd name="adj" fmla="val 28571"/>
            </a:avLst>
          </a:prstGeom>
          <a:solidFill>
            <a:srgbClr val="F2ECFF"/>
          </a:solidFill>
          <a:ln w="12700">
            <a:solidFill>
              <a:srgbClr val="9A7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82312" y="1336282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机构管理与后勤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2512" y="1163072"/>
            <a:ext cx="1700784" cy="558096"/>
          </a:xfrm>
          <a:prstGeom prst="roundRect">
            <a:avLst>
              <a:gd name="adj" fmla="val 28571"/>
            </a:avLst>
          </a:prstGeom>
          <a:solidFill>
            <a:srgbClr val="EEF8EE"/>
          </a:solidFill>
          <a:ln w="12700">
            <a:solidFill>
              <a:srgbClr val="6BBC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46520" y="1336282"/>
            <a:ext cx="157276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区级运营管理者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74736" y="1163072"/>
            <a:ext cx="1444752" cy="558096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38744" y="1336282"/>
            <a:ext cx="13167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合作服务商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10928" y="1163072"/>
            <a:ext cx="2011680" cy="558096"/>
          </a:xfrm>
          <a:prstGeom prst="roundRect">
            <a:avLst>
              <a:gd name="adj" fmla="val 28571"/>
            </a:avLst>
          </a:prstGeom>
          <a:solidFill>
            <a:srgbClr val="EAF7FF"/>
          </a:solidFill>
          <a:ln w="12700">
            <a:solidFill>
              <a:srgbClr val="4A88C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774936" y="1336282"/>
            <a:ext cx="18836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4A88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统一触达：短信、公众号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912" y="1838258"/>
            <a:ext cx="212140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66928" y="20005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养老照护域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2337922"/>
            <a:ext cx="1865376" cy="70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入住申请 / 审批 / 协议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长者档案与照护设置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照护计划、照护记录、外出</a:t>
            </a: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/ 退住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电子床头卡与委托服务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24912" y="1838258"/>
            <a:ext cx="212140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852928" y="20005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健康医养域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52928" y="2337922"/>
            <a:ext cx="1865376" cy="70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健康档案与能力评估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生命体征、慢病跟踪、健康报告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中医理疗、康复训练、医生协同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异常指标预警与复检提醒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10912" y="1838258"/>
            <a:ext cx="212140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138928" y="20005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安全监护域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38928" y="2337922"/>
            <a:ext cx="1865376" cy="70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一键呼救 / SOS 手环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视频监控与 AI 行为识别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门禁、消防、烟感、燃气联动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事件记录、定位工单、闭环处置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96912" y="1838258"/>
            <a:ext cx="212140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424928" y="20005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社区服务域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24928" y="2337922"/>
            <a:ext cx="1865376" cy="70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助餐、送餐、助浴、陪诊、代办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老年大学、活动、志愿服务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家属评价、服务下单、站点派单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课程预约与文化活动管理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82912" y="1838258"/>
            <a:ext cx="216712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710928" y="2000536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经营管理域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10928" y="2337922"/>
            <a:ext cx="1911096" cy="704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财务收费、押金、充值、结算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餐饮管理、食谱、点餐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采购、库存、物资、设备管理</a:t>
            </a:r>
            <a:endParaRPr lang="en-US" sz="1000" dirty="0"/>
          </a:p>
          <a:p>
            <a:pPr marL="114300" indent="-114300">
              <a:buSzPct val="100000"/>
              <a:buChar char="•"/>
            </a:pPr>
            <a:r>
              <a:rPr lang="en-US" sz="10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人事、排班、绩效、BI</a:t>
            </a:r>
            <a:r>
              <a:rPr lang="en-US" sz="10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报表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" y="3456432"/>
            <a:ext cx="55778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6" name="Text 34"/>
          <p:cNvSpPr/>
          <p:nvPr/>
        </p:nvSpPr>
        <p:spPr>
          <a:xfrm>
            <a:off x="603504" y="3611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共享能力平台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0877" y="3858768"/>
            <a:ext cx="693054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8" name="Text 36"/>
          <p:cNvSpPr/>
          <p:nvPr/>
        </p:nvSpPr>
        <p:spPr>
          <a:xfrm>
            <a:off x="662155" y="3886200"/>
            <a:ext cx="601194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用户中心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52159" y="3858768"/>
            <a:ext cx="66015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0" name="Text 38"/>
          <p:cNvSpPr/>
          <p:nvPr/>
        </p:nvSpPr>
        <p:spPr>
          <a:xfrm>
            <a:off x="1359935" y="3865180"/>
            <a:ext cx="565034" cy="2116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权限中心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80945" y="3858768"/>
            <a:ext cx="739403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2" name="Text 40"/>
          <p:cNvSpPr/>
          <p:nvPr/>
        </p:nvSpPr>
        <p:spPr>
          <a:xfrm>
            <a:off x="2173751" y="3906272"/>
            <a:ext cx="530352" cy="162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流程引擎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03909" y="3858768"/>
            <a:ext cx="7132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4" name="Text 42"/>
          <p:cNvSpPr/>
          <p:nvPr/>
        </p:nvSpPr>
        <p:spPr>
          <a:xfrm>
            <a:off x="2982101" y="3886200"/>
            <a:ext cx="566928" cy="19065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消息中心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13517" y="3858768"/>
            <a:ext cx="66751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6" name="Text 44"/>
          <p:cNvSpPr/>
          <p:nvPr/>
        </p:nvSpPr>
        <p:spPr>
          <a:xfrm>
            <a:off x="3726971" y="3886200"/>
            <a:ext cx="670033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支付中心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51449" y="3858768"/>
            <a:ext cx="767043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8" name="Text 46"/>
          <p:cNvSpPr/>
          <p:nvPr/>
        </p:nvSpPr>
        <p:spPr>
          <a:xfrm>
            <a:off x="4540576" y="3886200"/>
            <a:ext cx="5773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设备接入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94376" y="3858768"/>
            <a:ext cx="658368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0" name="Text 48"/>
          <p:cNvSpPr/>
          <p:nvPr/>
        </p:nvSpPr>
        <p:spPr>
          <a:xfrm>
            <a:off x="5309932" y="3875690"/>
            <a:ext cx="658368" cy="2200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开放接口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3504" y="4200558"/>
            <a:ext cx="4727448" cy="24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承接五大业务域共享的身份、流程、消息、支付、设备与接口能力。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63056" y="3456432"/>
            <a:ext cx="5586984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3" name="Text 51"/>
          <p:cNvSpPr/>
          <p:nvPr/>
        </p:nvSpPr>
        <p:spPr>
          <a:xfrm>
            <a:off x="6327648" y="3611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服务中心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71523" y="3858768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5" name="Text 53"/>
          <p:cNvSpPr/>
          <p:nvPr/>
        </p:nvSpPr>
        <p:spPr>
          <a:xfrm>
            <a:off x="6308099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风险预测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51913" y="3858768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7" name="Text 55"/>
          <p:cNvSpPr/>
          <p:nvPr/>
        </p:nvSpPr>
        <p:spPr>
          <a:xfrm>
            <a:off x="7098999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视频识别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874343" y="3858768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59" name="Text 57"/>
          <p:cNvSpPr/>
          <p:nvPr/>
        </p:nvSpPr>
        <p:spPr>
          <a:xfrm>
            <a:off x="7931946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智能派单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654738" y="3858768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1" name="Text 59"/>
          <p:cNvSpPr/>
          <p:nvPr/>
        </p:nvSpPr>
        <p:spPr>
          <a:xfrm>
            <a:off x="8680807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问答陪伴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445644" y="3858768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3" name="Text 61"/>
          <p:cNvSpPr/>
          <p:nvPr/>
        </p:nvSpPr>
        <p:spPr>
          <a:xfrm>
            <a:off x="9503239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推荐引擎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215527" y="3858768"/>
            <a:ext cx="62179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5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5" name="Text 63"/>
          <p:cNvSpPr/>
          <p:nvPr/>
        </p:nvSpPr>
        <p:spPr>
          <a:xfrm>
            <a:off x="10252103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经营洞察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27647" y="4200559"/>
            <a:ext cx="29604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对健康、安全、服务执行与经营分析提供嵌入式 AI 支撑。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" y="4709160"/>
            <a:ext cx="11311128" cy="1005840"/>
          </a:xfrm>
          <a:prstGeom prst="roundRect">
            <a:avLst>
              <a:gd name="adj" fmla="val 4545"/>
            </a:avLst>
          </a:prstGeom>
          <a:solidFill>
            <a:srgbClr val="F8FBFF"/>
          </a:solidFill>
          <a:ln w="12700">
            <a:solidFill>
              <a:srgbClr val="D9E4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603504" y="4873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业务闭环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2761488" y="5175504"/>
            <a:ext cx="502920" cy="0"/>
          </a:xfrm>
          <a:prstGeom prst="line">
            <a:avLst/>
          </a:prstGeom>
          <a:noFill/>
          <a:ln w="12700">
            <a:solidFill>
              <a:srgbClr val="AA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0" name="Shape 68"/>
          <p:cNvSpPr/>
          <p:nvPr/>
        </p:nvSpPr>
        <p:spPr>
          <a:xfrm>
            <a:off x="1828800" y="4983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9F8FB"/>
          </a:solidFill>
          <a:ln w="12700">
            <a:solidFill>
              <a:srgbClr val="CCD9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1" name="Text 69"/>
          <p:cNvSpPr/>
          <p:nvPr/>
        </p:nvSpPr>
        <p:spPr>
          <a:xfrm>
            <a:off x="1874520" y="50200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服务申请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178808" y="5175504"/>
            <a:ext cx="502920" cy="0"/>
          </a:xfrm>
          <a:prstGeom prst="line">
            <a:avLst/>
          </a:prstGeom>
          <a:noFill/>
          <a:ln w="12700">
            <a:solidFill>
              <a:srgbClr val="AA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3" name="Shape 71"/>
          <p:cNvSpPr/>
          <p:nvPr/>
        </p:nvSpPr>
        <p:spPr>
          <a:xfrm>
            <a:off x="3246120" y="4983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EF3FF"/>
          </a:solidFill>
          <a:ln w="12700">
            <a:solidFill>
              <a:srgbClr val="CCD9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4" name="Text 72"/>
          <p:cNvSpPr/>
          <p:nvPr/>
        </p:nvSpPr>
        <p:spPr>
          <a:xfrm>
            <a:off x="3291840" y="50200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智能识别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596128" y="5175504"/>
            <a:ext cx="502920" cy="0"/>
          </a:xfrm>
          <a:prstGeom prst="line">
            <a:avLst/>
          </a:prstGeom>
          <a:noFill/>
          <a:ln w="12700">
            <a:solidFill>
              <a:srgbClr val="AA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6" name="Shape 74"/>
          <p:cNvSpPr/>
          <p:nvPr/>
        </p:nvSpPr>
        <p:spPr>
          <a:xfrm>
            <a:off x="4663440" y="4983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9F8FB"/>
          </a:solidFill>
          <a:ln w="12700">
            <a:solidFill>
              <a:srgbClr val="CCD9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7" name="Text 75"/>
          <p:cNvSpPr/>
          <p:nvPr/>
        </p:nvSpPr>
        <p:spPr>
          <a:xfrm>
            <a:off x="4709160" y="50200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工单派发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013448" y="5175504"/>
            <a:ext cx="502920" cy="0"/>
          </a:xfrm>
          <a:prstGeom prst="line">
            <a:avLst/>
          </a:prstGeom>
          <a:noFill/>
          <a:ln w="12700">
            <a:solidFill>
              <a:srgbClr val="AA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9" name="Shape 77"/>
          <p:cNvSpPr/>
          <p:nvPr/>
        </p:nvSpPr>
        <p:spPr>
          <a:xfrm>
            <a:off x="6080760" y="4983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EF3FF"/>
          </a:solidFill>
          <a:ln w="12700">
            <a:solidFill>
              <a:srgbClr val="CCD9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80" name="Text 78"/>
          <p:cNvSpPr/>
          <p:nvPr/>
        </p:nvSpPr>
        <p:spPr>
          <a:xfrm>
            <a:off x="6126480" y="50200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服务执行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8430768" y="5175504"/>
            <a:ext cx="502920" cy="0"/>
          </a:xfrm>
          <a:prstGeom prst="line">
            <a:avLst/>
          </a:prstGeom>
          <a:noFill/>
          <a:ln w="12700">
            <a:solidFill>
              <a:srgbClr val="AAB8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82" name="Shape 80"/>
          <p:cNvSpPr/>
          <p:nvPr/>
        </p:nvSpPr>
        <p:spPr>
          <a:xfrm>
            <a:off x="7498080" y="4983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9F8FB"/>
          </a:solidFill>
          <a:ln w="12700">
            <a:solidFill>
              <a:srgbClr val="CCD9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83" name="Text 81"/>
          <p:cNvSpPr/>
          <p:nvPr/>
        </p:nvSpPr>
        <p:spPr>
          <a:xfrm>
            <a:off x="7543800" y="50200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家属可视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8915400" y="49834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EF3FF"/>
          </a:solidFill>
          <a:ln w="12700">
            <a:solidFill>
              <a:srgbClr val="CCD9E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85" name="Text 83"/>
          <p:cNvSpPr/>
          <p:nvPr/>
        </p:nvSpPr>
        <p:spPr>
          <a:xfrm>
            <a:off x="8961120" y="5020056"/>
            <a:ext cx="822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运营分析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该页适合直接放入技术标“应用架构”章节，也可拆为系统清单页。</a:t>
            </a:r>
            <a:endParaRPr lang="en-US" sz="800" dirty="0"/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AI、数据与集成方案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不是单点“机器人”，而是嵌入健康预警、行为识别、资源调度、家属互动与经营分析全流程。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中枢 + 数据中台 + 第三方接口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33856"/>
            <a:ext cx="265176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9496" y="124358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健康分析引擎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496" y="151790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时序数据趋势分析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异常指标识别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健康报告生成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多级预警与家属通知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33856"/>
            <a:ext cx="265176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74136" y="124358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视频识别引擎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4136" y="151790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跌倒 / 徘徊 / 久卧未翻身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异常聚集 / 闯入识别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工单触发与定位推送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与门禁消防联动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133856"/>
            <a:ext cx="265176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08776" y="124358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调度优化引擎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08776" y="1517904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基于地理位置、技能、忙闲状态派单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跨站点人力与设备动态调配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支撑社区服务</a:t>
            </a: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15 分钟级响应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1133856"/>
            <a:ext cx="283464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043416" y="124358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交互与经营分析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43416" y="1517904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知识问答、陪聊助手、客服回访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课程/套餐推荐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客户分层与增值分析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KPI 驾驶舱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5413248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数据中台设计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3072384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长者主数据：身份、健康史、服务偏好、风险等级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家庭主数据：联系人、关系、通知策略、支付账户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服务主数据：工单、照护、活动、订餐、评价、投诉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设备主数据：设备资产、绑定对象、状态、在线率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指标中心：入住率、服务量、事件闭环率、成本、满意度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11480" y="5175504"/>
            <a:ext cx="11356848" cy="548640"/>
          </a:xfrm>
          <a:prstGeom prst="roundRect">
            <a:avLst>
              <a:gd name="adj" fmla="val 6667"/>
            </a:avLst>
          </a:prstGeom>
          <a:solidFill>
            <a:srgbClr val="F3F7FC"/>
          </a:solidFill>
          <a:ln w="12700">
            <a:solidFill>
              <a:srgbClr val="D9E1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603504" y="5367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建议口径：AI 以“辅助决策 + 主动预警 + 提效增能”为边界，优先落地健康预警、事件识别、智能派单和客服陪伴四类可量化场景。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页内所有表格均为原生 PPT 表格，可复制到 Word 标书中继续编辑。</a:t>
            </a:r>
            <a:endParaRPr lang="en-US" sz="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64BA0B25-35BC-8A3A-E496-19442C69AF30}"/>
              </a:ext>
            </a:extLst>
          </p:cNvPr>
          <p:cNvSpPr/>
          <p:nvPr/>
        </p:nvSpPr>
        <p:spPr>
          <a:xfrm>
            <a:off x="6212446" y="2652017"/>
            <a:ext cx="5779008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1" name="table">
            <a:extLst>
              <a:ext uri="{FF2B5EF4-FFF2-40B4-BE49-F238E27FC236}">
                <a16:creationId xmlns:a16="http://schemas.microsoft.com/office/drawing/2014/main" id="{7F12BA08-AAF3-F945-65AD-FA66FEA1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94" y="3072641"/>
            <a:ext cx="5440680" cy="1456944"/>
          </a:xfrm>
          <a:prstGeom prst="rect">
            <a:avLst/>
          </a:prstGeom>
        </p:spPr>
      </p:pic>
      <p:sp>
        <p:nvSpPr>
          <p:cNvPr id="32" name="Text 17">
            <a:extLst>
              <a:ext uri="{FF2B5EF4-FFF2-40B4-BE49-F238E27FC236}">
                <a16:creationId xmlns:a16="http://schemas.microsoft.com/office/drawing/2014/main" id="{9C39C9D2-AC94-DB1F-BE89-9038DE73C09D}"/>
              </a:ext>
            </a:extLst>
          </p:cNvPr>
          <p:cNvSpPr/>
          <p:nvPr/>
        </p:nvSpPr>
        <p:spPr>
          <a:xfrm>
            <a:off x="6367894" y="276569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6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集成交换与安全保障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>
              <a:buNone/>
            </a:pPr>
            <a:r>
              <a:rPr sz="2200" b="1" dirty="0" err="1">
                <a:solidFill>
                  <a:srgbClr val="1E56A0"/>
                </a:solidFill>
                <a:latin typeface="Microsoft YaHei"/>
              </a:rPr>
              <a:t>系统功能响应表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>
              <a:buNone/>
            </a:pPr>
            <a:r>
              <a:rPr sz="1150" b="0">
                <a:solidFill>
                  <a:srgbClr val="5A6677"/>
                </a:solidFill>
                <a:latin typeface="Microsoft YaHei"/>
              </a:rPr>
              <a:t>围绕一期数字化建设需求，将核心要求拆解为可评分、可答辩、可实施的响应语言。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493555"/>
            <a:ext cx="2148840" cy="420844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 algn="ctr">
              <a:buNone/>
            </a:pPr>
            <a:r>
              <a:rPr sz="1120" b="1" dirty="0" err="1">
                <a:solidFill>
                  <a:schemeClr val="bg1"/>
                </a:solidFill>
                <a:latin typeface="Microsoft YaHei"/>
              </a:rPr>
              <a:t>标书版功能响应表（招标需求</a:t>
            </a:r>
            <a:r>
              <a:rPr sz="1120" b="1" dirty="0">
                <a:solidFill>
                  <a:schemeClr val="bg1"/>
                </a:solidFill>
                <a:latin typeface="Microsoft YaHei"/>
              </a:rPr>
              <a:t> / </a:t>
            </a:r>
            <a:r>
              <a:rPr sz="1120" b="1" dirty="0" err="1">
                <a:solidFill>
                  <a:schemeClr val="bg1"/>
                </a:solidFill>
                <a:latin typeface="Microsoft YaHei"/>
              </a:rPr>
              <a:t>响应方案</a:t>
            </a:r>
            <a:r>
              <a:rPr sz="1120" b="1" dirty="0">
                <a:solidFill>
                  <a:schemeClr val="bg1"/>
                </a:solidFill>
                <a:latin typeface="Microsoft YaHei"/>
              </a:rPr>
              <a:t> / </a:t>
            </a:r>
            <a:r>
              <a:rPr sz="1120" b="1" dirty="0" err="1">
                <a:solidFill>
                  <a:schemeClr val="bg1"/>
                </a:solidFill>
                <a:latin typeface="Microsoft YaHei"/>
              </a:rPr>
              <a:t>实现方式</a:t>
            </a:r>
            <a:r>
              <a:rPr sz="1120" b="1" dirty="0">
                <a:solidFill>
                  <a:schemeClr val="bg1"/>
                </a:solidFill>
                <a:latin typeface="Microsoft YaHei"/>
              </a:rPr>
              <a:t>）</a:t>
            </a:r>
            <a:endParaRPr lang="en-US" sz="850" dirty="0">
              <a:solidFill>
                <a:schemeClr val="bg1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84048" y="1170432"/>
          <a:ext cx="11384280" cy="380390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20" b="1">
                          <a:solidFill>
                            <a:srgbClr val="1E56A0"/>
                          </a:solidFill>
                          <a:latin typeface="Microsoft YaHei"/>
                        </a:rPr>
                        <a:t>招标需求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E56A0"/>
                          </a:solidFill>
                          <a:latin typeface="Microsoft YaHei"/>
                        </a:rPr>
                        <a:t>响应方案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1E56A0"/>
                          </a:solidFill>
                          <a:latin typeface="Microsoft YaHei"/>
                        </a:rPr>
                        <a:t>实现方式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E56A0"/>
                          </a:solidFill>
                          <a:latin typeface="Microsoft YaHei"/>
                        </a:rPr>
                        <a:t>智慧化平台总体架构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完全满足。建设“感知层 + 平台层 + 应用层 + 展示层”的总体架构，并叠加数据中台与 AI 中枢。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通过统一身份、IoT 接入、消息中心、工单流程、开放接口和多端应用，形成区域统一平台。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E56A0"/>
                          </a:solidFill>
                          <a:latin typeface="Microsoft YaHei"/>
                        </a:rPr>
                        <a:t>健康管理系统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完全满足。建立长者健康档案、生命体征监测、健康报告和异常预警能力。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接入穿戴与检测设备；云端分析心率、血压、血糖、血氧、睡眠等数据；异常自动通知护理端与家属端。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E56A0"/>
                          </a:solidFill>
                          <a:latin typeface="Microsoft YaHei"/>
                        </a:rPr>
                        <a:t>服务呼叫系统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完全满足。支持房间、公共区域和居家延伸场景的一键呼叫与事件闭环。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部署呼叫按钮和 SOS 手环；联动护理站、手持终端和工单系统，实现定位、响应、留痕、统计。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E56A0"/>
                          </a:solidFill>
                          <a:latin typeface="Microsoft YaHei"/>
                        </a:rPr>
                        <a:t>安全监控系统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完全满足。支持视频监控、AI 行为识别和门禁消防环境联动。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接入高清摄像头、门禁、烟感、燃气、水浸等设备；识别跌倒、徘徊、闯入等异常并自动告警。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E56A0"/>
                          </a:solidFill>
                          <a:latin typeface="Microsoft YaHei"/>
                        </a:rPr>
                        <a:t>运营管理系统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完全满足。实现人、财、物、餐、设备、活动等经营管理数字化。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建设 PC 管理端，覆盖入住、评估、照护、财务结算、餐饮、采购、库存、人事和统计报表等模块。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E56A0"/>
                          </a:solidFill>
                          <a:latin typeface="Microsoft YaHei"/>
                        </a:rPr>
                        <a:t>社交互动平台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完全满足。支持长者、家属、工作人员之间的多端互动。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F2937"/>
                          </a:solidFill>
                          <a:latin typeface="Microsoft YaHei"/>
                        </a:rPr>
                        <a:t>建设家属小程序和长者小程序，提供视频语音互动、活动通知、护理记录查看、账户充值、服务下单等能力。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5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>
              <a:buNone/>
            </a:pPr>
            <a:r>
              <a:rPr sz="919" b="0">
                <a:solidFill>
                  <a:srgbClr val="5A6677"/>
                </a:solidFill>
                <a:latin typeface="Microsoft YaHei"/>
              </a:rPr>
              <a:t>建议使用方法：本页可直接作为技术响应表，也可复制拆分到“功能模块响应”章节。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>
              <a:buNone/>
            </a:pPr>
            <a:r>
              <a:rPr sz="2200" b="1" dirty="0" err="1">
                <a:solidFill>
                  <a:srgbClr val="1E56A0"/>
                </a:solidFill>
                <a:latin typeface="Microsoft YaHei"/>
              </a:rPr>
              <a:t>系统功能响应表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>
              <a:buNone/>
            </a:pPr>
            <a:r>
              <a:rPr sz="1150" b="0">
                <a:solidFill>
                  <a:srgbClr val="5A6677"/>
                </a:solidFill>
                <a:latin typeface="Microsoft YaHei"/>
              </a:rPr>
              <a:t>将运营方案与 AI 能力补充纳入扩展项，突出方案的持续运营能力与复制推广能力。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 algn="ctr">
              <a:buNone/>
            </a:pPr>
            <a:r>
              <a:rPr sz="1120" b="1">
                <a:solidFill>
                  <a:srgbClr val="1E56A0"/>
                </a:solidFill>
                <a:latin typeface="Microsoft YaHei"/>
              </a:rPr>
              <a:t>标书版功能响应表（招标需求 / 响应方案 / 实现方式）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662682"/>
              </p:ext>
            </p:extLst>
          </p:nvPr>
        </p:nvGraphicFramePr>
        <p:xfrm>
          <a:off x="384048" y="1170432"/>
          <a:ext cx="11384280" cy="3803904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招标需求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响应方案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实现方式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统一数据中台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优于招标需求。建设长者、家庭、设备、工单、指标统一数据底座。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2937"/>
                          </a:solidFill>
                          <a:latin typeface="Microsoft YaHei"/>
                        </a:rPr>
                        <a:t>整合照护、医疗、餐饮、安防等系统，构建长者全景电子档案和运营指标中心</a:t>
                      </a:r>
                      <a:r>
                        <a:rPr sz="1200" b="0" dirty="0">
                          <a:solidFill>
                            <a:srgbClr val="1F2937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E56A0"/>
                          </a:solidFill>
                          <a:latin typeface="Microsoft YaHei"/>
                        </a:rPr>
                        <a:t>AI </a:t>
                      </a:r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风险预警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优于招标需求。引入健康预测、行为识别、环境联动等多模型能力。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对异常指标、跌倒、徘徊、久卧未翻身等场景进行识别，并自动推送到值班端和护理端。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资源调度中台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优于招标需求。支持跨站点人力、设备和服务工单协同。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基于地理位置、技能标签和忙闲状态派单；支持 32 处点位资源共享与调峰。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决策分析驾驶舱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完全满足并支持扩展。建设区级和站点级数据看板。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展示入住率、服务量、成本构成、满意度热力图、设备在线率、事件闭环率等 KPI。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培训与知识平台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支持扩展。建设在线学习与标准化操作支撑体系。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2937"/>
                          </a:solidFill>
                          <a:latin typeface="Microsoft YaHei"/>
                        </a:rPr>
                        <a:t>沉淀</a:t>
                      </a:r>
                      <a:r>
                        <a:rPr sz="1200" b="0" dirty="0">
                          <a:solidFill>
                            <a:srgbClr val="1F2937"/>
                          </a:solidFill>
                          <a:latin typeface="Microsoft YaHe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F2937"/>
                          </a:solidFill>
                          <a:latin typeface="Microsoft YaHei"/>
                        </a:rPr>
                        <a:t>SOP、课件、FAQ、考核记录，支撑护理、管理、康复、心理等一体化培训</a:t>
                      </a:r>
                      <a:r>
                        <a:rPr sz="1200" b="0" dirty="0">
                          <a:solidFill>
                            <a:srgbClr val="1F2937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1E56A0"/>
                          </a:solidFill>
                          <a:latin typeface="Microsoft YaHei"/>
                        </a:rPr>
                        <a:t>可编辑交付要求</a:t>
                      </a:r>
                      <a:endParaRPr sz="1400" b="1" dirty="0">
                        <a:solidFill>
                          <a:srgbClr val="1E56A0"/>
                        </a:solidFill>
                        <a:latin typeface="Microsoft YaHei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Microsoft YaHei"/>
                        </a:rPr>
                        <a:t>完全满足。投标 PPT、表格、架构图均采用原生 PPT 对象。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2937"/>
                          </a:solidFill>
                          <a:latin typeface="Microsoft YaHei"/>
                        </a:rPr>
                        <a:t>页面全部使用文本框、表格、形状绘制，可直接修改文字、颜色、模块和表格内容</a:t>
                      </a:r>
                      <a:r>
                        <a:rPr sz="1200" b="0" dirty="0">
                          <a:solidFill>
                            <a:srgbClr val="1F2937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/>
          <a:lstStyle/>
          <a:p>
            <a:pPr marL="0" indent="0">
              <a:buNone/>
            </a:pPr>
            <a:r>
              <a:rPr sz="919" b="0">
                <a:solidFill>
                  <a:srgbClr val="5A6677"/>
                </a:solidFill>
                <a:latin typeface="Microsoft YaHei"/>
              </a:rPr>
              <a:t>建议使用方法：本页可直接作为技术响应表，也可复制拆分到“功能模块响应”章节。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实施路径、交付物与运维培训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建议采用“总体规划—底座先行—样板验证—全域推广”路径，确保技术建设与业务上线同步可控。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实施组织 / 交付 / 运维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810512"/>
            <a:ext cx="1828800" cy="0"/>
          </a:xfrm>
          <a:prstGeom prst="line">
            <a:avLst/>
          </a:prstGeom>
          <a:noFill/>
          <a:ln w="12700">
            <a:solidFill>
              <a:srgbClr val="A9B8C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438912" cy="438912"/>
          </a:xfrm>
          <a:prstGeom prst="ellipse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61288" y="1417320"/>
            <a:ext cx="1783080" cy="10595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Text 8"/>
          <p:cNvSpPr/>
          <p:nvPr/>
        </p:nvSpPr>
        <p:spPr>
          <a:xfrm>
            <a:off x="1307592" y="15361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07592" y="182690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需求深化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总体设计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07592" y="222230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完成调研、蓝图、清单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810512"/>
            <a:ext cx="1828800" cy="0"/>
          </a:xfrm>
          <a:prstGeom prst="line">
            <a:avLst/>
          </a:prstGeom>
          <a:noFill/>
          <a:ln w="12700">
            <a:solidFill>
              <a:srgbClr val="A9B8C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Shape 12"/>
          <p:cNvSpPr/>
          <p:nvPr/>
        </p:nvSpPr>
        <p:spPr>
          <a:xfrm>
            <a:off x="3154680" y="1572768"/>
            <a:ext cx="438912" cy="438912"/>
          </a:xfrm>
          <a:prstGeom prst="ellipse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3048" y="1417320"/>
            <a:ext cx="1783080" cy="10595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7" name="Text 15"/>
          <p:cNvSpPr/>
          <p:nvPr/>
        </p:nvSpPr>
        <p:spPr>
          <a:xfrm>
            <a:off x="3959352" y="15361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59352" y="182690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底座建设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接口打通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9352" y="222230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主数据、IoT、消息、门户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810512"/>
            <a:ext cx="1828800" cy="0"/>
          </a:xfrm>
          <a:prstGeom prst="line">
            <a:avLst/>
          </a:prstGeom>
          <a:noFill/>
          <a:ln w="12700">
            <a:solidFill>
              <a:srgbClr val="A9B8C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1" name="Shape 19"/>
          <p:cNvSpPr/>
          <p:nvPr/>
        </p:nvSpPr>
        <p:spPr>
          <a:xfrm>
            <a:off x="5806440" y="1572768"/>
            <a:ext cx="438912" cy="438912"/>
          </a:xfrm>
          <a:prstGeom prst="ellipse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2" name="Text 20"/>
          <p:cNvSpPr/>
          <p:nvPr/>
        </p:nvSpPr>
        <p:spPr>
          <a:xfrm>
            <a:off x="5943600" y="16916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4808" y="1417320"/>
            <a:ext cx="1783080" cy="10595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4" name="Text 22"/>
          <p:cNvSpPr/>
          <p:nvPr/>
        </p:nvSpPr>
        <p:spPr>
          <a:xfrm>
            <a:off x="6611112" y="15361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11112" y="182690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样板点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试点上线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11112" y="222230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龙湖中心+代表站点试运行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69680" y="1810512"/>
            <a:ext cx="1828800" cy="0"/>
          </a:xfrm>
          <a:prstGeom prst="line">
            <a:avLst/>
          </a:prstGeom>
          <a:noFill/>
          <a:ln w="12700">
            <a:solidFill>
              <a:srgbClr val="A9B8C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8" name="Shape 26"/>
          <p:cNvSpPr/>
          <p:nvPr/>
        </p:nvSpPr>
        <p:spPr>
          <a:xfrm>
            <a:off x="8458200" y="1572768"/>
            <a:ext cx="438912" cy="438912"/>
          </a:xfrm>
          <a:prstGeom prst="ellipse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9" name="Text 27"/>
          <p:cNvSpPr/>
          <p:nvPr/>
        </p:nvSpPr>
        <p:spPr>
          <a:xfrm>
            <a:off x="8595360" y="16916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16568" y="1417320"/>
            <a:ext cx="1783080" cy="10595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1" name="Text 29"/>
          <p:cNvSpPr/>
          <p:nvPr/>
        </p:nvSpPr>
        <p:spPr>
          <a:xfrm>
            <a:off x="9262872" y="15361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 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62872" y="182690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全域推广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优化验收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62872" y="222230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31点位接入、优化与验收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" y="2833486"/>
            <a:ext cx="2743200" cy="240602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6928" y="302697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项目交付物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6928" y="3448443"/>
            <a:ext cx="24871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</a:t>
            </a: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PPT、技术方案文档、功能响应表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总体设计、数据库设计、接口设计、部署架构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测试报告、验收报告、用户手册、运维手册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</a:t>
            </a: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设备台账、安装调试记录、培训材料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55848" y="2833486"/>
            <a:ext cx="2743200" cy="240602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483864" y="302697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运维保障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83864" y="3448443"/>
            <a:ext cx="24871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7×24 监控建议口径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平台巡检、日志监控、数据备份、补丁升级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接口连通性检查、报表校验、故障闭环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支持重大故障快速响应与升级处理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72784" y="2833486"/>
            <a:ext cx="2743200" cy="240602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400800" y="302697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培训方案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0800" y="3448443"/>
            <a:ext cx="248716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集中培训 + 分角色培训 + 上线陪跑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在线学习平台、FAQ、视频课件、操作案例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培训签到、考试、实操考核、复训机制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管理、护理、医护、后勤、家属引导分层实施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189720" y="2833486"/>
            <a:ext cx="2578608" cy="2406026"/>
          </a:xfrm>
          <a:prstGeom prst="roundRect">
            <a:avLst>
              <a:gd name="adj" fmla="val 1773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317736" y="3026978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可编辑交付说明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17736" y="3448443"/>
            <a:ext cx="23225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buSzPct val="100000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架构图 = 原生形状，可拆分改色</a:t>
            </a:r>
            <a:endParaRPr lang="en-US" sz="1050" dirty="0"/>
          </a:p>
          <a:p>
            <a:pPr>
              <a:buSzPct val="100000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响应表 = 原生表格，可复制至 Word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文本 = 文本框，可直接换字</a:t>
            </a:r>
            <a:endParaRPr lang="en-US" sz="1050" dirty="0"/>
          </a:p>
          <a:p>
            <a:pPr marL="114300" indent="-114300">
              <a:buSzPct val="100000"/>
              <a:buChar char="•"/>
            </a:pPr>
            <a:r>
              <a:rPr lang="en-US" sz="105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适合标书附件、答辩汇报、后续改稿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8912" y="5449824"/>
            <a:ext cx="11292840" cy="347472"/>
          </a:xfrm>
          <a:prstGeom prst="roundRect">
            <a:avLst>
              <a:gd name="adj" fmla="val 7895"/>
            </a:avLst>
          </a:prstGeom>
          <a:solidFill>
            <a:srgbClr val="F4F8FD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21792" y="5559552"/>
            <a:ext cx="10927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建议：以“可编辑交付”为底线，以“可复制运营”为上限，使本套材料既能支持当次投标，也能沉淀为后续扩点、述标和汇报模板。</a:t>
            </a:r>
            <a:endParaRPr lang="en-US" sz="1010" dirty="0"/>
          </a:p>
        </p:txBody>
      </p:sp>
      <p:sp>
        <p:nvSpPr>
          <p:cNvPr id="48" name="Shape 46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本页中的实施节奏为建议排布，可按招标文件的工期、里程碑和组织安排继续调整。</a:t>
            </a:r>
            <a:endParaRPr lang="en-US" sz="8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530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投标汇报结论页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877824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这不是一套“只能展示的图片PPT”，而是一套可直接改、可继续扩、可落地打标的编辑型投标材料。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601200" y="548640"/>
            <a:ext cx="2148840" cy="219456"/>
          </a:xfrm>
          <a:prstGeom prst="roundRect">
            <a:avLst>
              <a:gd name="adj" fmla="val 12500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646920" y="576072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 / 可编辑说明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57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85216" y="1344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方案结论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1618488"/>
            <a:ext cx="3401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平台应定位为“区域级数智养老运营底座”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采用四层架构</a:t>
            </a: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+ 数据中台 + AI 中枢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</a:t>
            </a: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1 个区级服务核、31 个社区节点与居家端延伸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234440"/>
            <a:ext cx="3657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398264" y="1344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投标优势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98264" y="1618488"/>
            <a:ext cx="3401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架构表达清晰，便于评标专家快速理解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功能响应表按“需求</a:t>
            </a: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—方案—实现”作答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同时兼顾技术标附件与现场讲标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1234440"/>
            <a:ext cx="3657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211312" y="134416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编辑友好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1312" y="1618488"/>
            <a:ext cx="34015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文本框 / 表格 / 形状全部原生绘制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可替换公司 Logo、页眉页脚、色彩体系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可继续拆分为标书版与汇报版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1283696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108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后续可继续扩展的三个方向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" y="352044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8FFFD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04672" y="3630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3A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1｜品牌化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90448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接入贵司</a:t>
            </a: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Logo / 页眉页脚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调整为贵司标准蓝、灰、强调色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增补公司资质与案例页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9976" y="352044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BF9FF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07992" y="3630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70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2｜商务化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07992" y="390448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增补软硬件清单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增补服务</a:t>
            </a: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SLA、承诺书、实施组织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 err="1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增补报价分项与资源投入说明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83296" y="352044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8FFF8"/>
          </a:solidFill>
          <a:ln w="12700">
            <a:solidFill>
              <a:srgbClr val="D9DF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211312" y="36301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BC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 3｜答辩化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11312" y="390448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压缩为 8 页领导汇报版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增加演讲备注与分工提示</a:t>
            </a:r>
            <a:endParaRPr lang="en-US" sz="1200" dirty="0"/>
          </a:p>
          <a:p>
            <a:pPr marL="114300" indent="-114300">
              <a:buSzPct val="100000"/>
              <a:buChar char="•"/>
            </a:pPr>
            <a:r>
              <a:rPr lang="en-US" sz="1200" dirty="0">
                <a:solidFill>
                  <a:srgbClr val="1D2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调整每页为“结论先行”口径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449824"/>
            <a:ext cx="11283696" cy="384048"/>
          </a:xfrm>
          <a:prstGeom prst="roundRect">
            <a:avLst>
              <a:gd name="adj" fmla="val 7143"/>
            </a:avLst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5559552"/>
            <a:ext cx="10917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当前交付版本：真正可编辑、可继续二改、可直接用于技术标和现场述标的 PPT 成品。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0" y="6272784"/>
            <a:ext cx="12191695" cy="182880"/>
          </a:xfrm>
          <a:prstGeom prst="rect">
            <a:avLst/>
          </a:prstGeom>
          <a:solidFill>
            <a:srgbClr val="173B6C"/>
          </a:solidFill>
          <a:ln w="12700">
            <a:solidFill>
              <a:srgbClr val="173B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56032" y="630021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如需下一步，可继续生成：公司品牌版 / 精简汇报版 / Word 标书版 / 功能清单版。</a:t>
            </a:r>
            <a:endParaRPr lang="en-US" sz="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C7A90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2180</Words>
  <Application>Microsoft Macintosh PowerPoint</Application>
  <PresentationFormat>宽屏</PresentationFormat>
  <Paragraphs>390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沈阳市和平区养老平台投标方案（可编辑最终版）</dc:title>
  <dc:subject>沈阳市和平区全域综合养老服务项目 - 可编辑投标PPT</dc:subject>
  <dc:creator>OpenAI</dc:creator>
  <cp:lastModifiedBy>Vincent Bai</cp:lastModifiedBy>
  <cp:revision>115</cp:revision>
  <dcterms:created xsi:type="dcterms:W3CDTF">2026-04-05T02:10:32Z</dcterms:created>
  <dcterms:modified xsi:type="dcterms:W3CDTF">2026-04-05T04:13:36Z</dcterms:modified>
</cp:coreProperties>
</file>